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200" b="1">
                <a:solidFill>
                  <a:srgbClr val="36454F"/>
                </a:solidFill>
                <a:latin typeface="Calibri"/>
              </a:rPr>
              <a:t>MeetHalfway Demo Interface  —  Home Page</a:t>
            </a:r>
          </a:p>
        </p:txBody>
      </p:sp>
      <p:pic>
        <p:nvPicPr>
          <p:cNvPr id="3" name="Picture 2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6858000" cy="49011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3731" y="942197"/>
            <a:ext cx="1518557" cy="1151778"/>
          </a:xfrm>
          <a:prstGeom prst="rect">
            <a:avLst/>
          </a:prstGeom>
          <a:noFill/>
          <a:ln w="25400">
            <a:solidFill>
              <a:srgbClr val="E15A1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0" y="960120"/>
            <a:ext cx="457200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E15A1E"/>
                </a:solidFill>
                <a:latin typeface="Calibri"/>
              </a:rPr>
              <a:t>Project title and positioning</a:t>
            </a:r>
          </a:p>
          <a:p>
            <a:pPr algn="l"/>
            <a:r>
              <a:rPr sz="1100" i="1">
                <a:solidFill>
                  <a:srgbClr val="555555"/>
                </a:solidFill>
                <a:latin typeface="Calibri"/>
              </a:rPr>
              <a:t>Project name and tagline frame the system as a privacy-first meeting-place planner.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982288" y="1394460"/>
            <a:ext cx="5424352" cy="123626"/>
          </a:xfrm>
          <a:prstGeom prst="line">
            <a:avLst/>
          </a:prstGeom>
          <a:ln w="19050">
            <a:solidFill>
              <a:srgbClr val="E15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300695" y="942197"/>
            <a:ext cx="1200150" cy="1151778"/>
          </a:xfrm>
          <a:prstGeom prst="rect">
            <a:avLst/>
          </a:prstGeom>
          <a:noFill/>
          <a:ln w="25400">
            <a:solidFill>
              <a:srgbClr val="E15A1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2011680"/>
            <a:ext cx="457200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E15A1E"/>
                </a:solidFill>
                <a:latin typeface="Calibri"/>
              </a:rPr>
              <a:t>Design principles at a glance</a:t>
            </a:r>
          </a:p>
          <a:p>
            <a:pPr algn="l"/>
            <a:r>
              <a:rPr sz="1100" i="1">
                <a:solidFill>
                  <a:srgbClr val="555555"/>
                </a:solidFill>
                <a:latin typeface="Calibri"/>
              </a:rPr>
              <a:t>Core goal, privacy policy, recommendation target, and interaction model presented as summary cards.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00845" y="1518086"/>
            <a:ext cx="3905795" cy="927934"/>
          </a:xfrm>
          <a:prstGeom prst="line">
            <a:avLst/>
          </a:prstGeom>
          <a:ln w="19050">
            <a:solidFill>
              <a:srgbClr val="E15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63731" y="2191999"/>
            <a:ext cx="3086100" cy="1347825"/>
          </a:xfrm>
          <a:prstGeom prst="rect">
            <a:avLst/>
          </a:prstGeom>
          <a:noFill/>
          <a:ln w="25400">
            <a:solidFill>
              <a:srgbClr val="E15A1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3063240"/>
            <a:ext cx="457200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E15A1E"/>
                </a:solidFill>
                <a:latin typeface="Calibri"/>
              </a:rPr>
              <a:t>Six-step privacy-separated workflow</a:t>
            </a:r>
          </a:p>
          <a:p>
            <a:pPr algn="l"/>
            <a:r>
              <a:rPr sz="1100" i="1">
                <a:solidFill>
                  <a:srgbClr val="555555"/>
                </a:solidFill>
                <a:latin typeface="Calibri"/>
              </a:rPr>
              <a:t>From private check-in to commute radius, overlap search, voting, time alignment, and final suggestion.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49831" y="2865911"/>
            <a:ext cx="3856809" cy="631669"/>
          </a:xfrm>
          <a:prstGeom prst="line">
            <a:avLst/>
          </a:prstGeom>
          <a:ln w="19050">
            <a:solidFill>
              <a:srgbClr val="E15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63731" y="3564331"/>
            <a:ext cx="3086100" cy="857707"/>
          </a:xfrm>
          <a:prstGeom prst="rect">
            <a:avLst/>
          </a:prstGeom>
          <a:noFill/>
          <a:ln w="25400">
            <a:solidFill>
              <a:srgbClr val="E15A1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4114800"/>
            <a:ext cx="457200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E15A1E"/>
                </a:solidFill>
                <a:latin typeface="Calibri"/>
              </a:rPr>
              <a:t>Privacy guarantees</a:t>
            </a:r>
          </a:p>
          <a:p>
            <a:pPr algn="l"/>
            <a:r>
              <a:rPr sz="1100" i="1">
                <a:solidFill>
                  <a:srgbClr val="555555"/>
                </a:solidFill>
                <a:latin typeface="Calibri"/>
              </a:rPr>
              <a:t>Participants never exchange raw coordinates with one another; only outcomes are shown.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49831" y="3993184"/>
            <a:ext cx="3856809" cy="555956"/>
          </a:xfrm>
          <a:prstGeom prst="line">
            <a:avLst/>
          </a:prstGeom>
          <a:ln w="19050">
            <a:solidFill>
              <a:srgbClr val="E15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010988" y="4471050"/>
            <a:ext cx="538842" cy="269565"/>
          </a:xfrm>
          <a:prstGeom prst="rect">
            <a:avLst/>
          </a:prstGeom>
          <a:noFill/>
          <a:ln w="25400">
            <a:solidFill>
              <a:srgbClr val="E15A1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5166360"/>
            <a:ext cx="457200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E15A1E"/>
                </a:solidFill>
                <a:latin typeface="Calibri"/>
              </a:rPr>
              <a:t>Entry point into the meeting query</a:t>
            </a:r>
          </a:p>
          <a:p>
            <a:pPr algn="l"/>
            <a:r>
              <a:rPr sz="1100" i="1">
                <a:solidFill>
                  <a:srgbClr val="555555"/>
                </a:solidFill>
                <a:latin typeface="Calibri"/>
              </a:rPr>
              <a:t>The Next button advances the user from the landing page to the participant input flow.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49830" y="4605832"/>
            <a:ext cx="3856810" cy="994868"/>
          </a:xfrm>
          <a:prstGeom prst="line">
            <a:avLst/>
          </a:prstGeom>
          <a:ln w="19050">
            <a:solidFill>
              <a:srgbClr val="E15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200" b="1">
                <a:solidFill>
                  <a:srgbClr val="36454F"/>
                </a:solidFill>
                <a:latin typeface="Calibri"/>
              </a:rPr>
              <a:t>MeetHalfway Demo Result  —  Shared Feasible Region &amp; Candidates</a:t>
            </a:r>
          </a:p>
        </p:txBody>
      </p:sp>
      <p:pic>
        <p:nvPicPr>
          <p:cNvPr id="3" name="Picture 2" descr="resul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6858000" cy="49011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23010" y="1236268"/>
            <a:ext cx="1224642" cy="735177"/>
          </a:xfrm>
          <a:prstGeom prst="rect">
            <a:avLst/>
          </a:prstGeom>
          <a:noFill/>
          <a:ln w="25400">
            <a:solidFill>
              <a:srgbClr val="E15A1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0" y="960120"/>
            <a:ext cx="457200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E15A1E"/>
                </a:solidFill>
                <a:latin typeface="Calibri"/>
              </a:rPr>
              <a:t>Shared feasible region</a:t>
            </a:r>
          </a:p>
          <a:p>
            <a:pPr algn="l"/>
            <a:r>
              <a:rPr sz="1100" i="1">
                <a:solidFill>
                  <a:srgbClr val="555555"/>
                </a:solidFill>
                <a:latin typeface="Calibri"/>
              </a:rPr>
              <a:t>Green shaded polygon is the intersection of the two travel-time isochrones — the jointly reachable area.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447652" y="1394460"/>
            <a:ext cx="4958988" cy="209396"/>
          </a:xfrm>
          <a:prstGeom prst="line">
            <a:avLst/>
          </a:prstGeom>
          <a:ln w="19050">
            <a:solidFill>
              <a:srgbClr val="E15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745774" y="1799904"/>
            <a:ext cx="1322614" cy="661659"/>
          </a:xfrm>
          <a:prstGeom prst="rect">
            <a:avLst/>
          </a:prstGeom>
          <a:noFill/>
          <a:ln w="25400">
            <a:solidFill>
              <a:srgbClr val="E15A1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2011680"/>
            <a:ext cx="457200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E15A1E"/>
                </a:solidFill>
                <a:latin typeface="Calibri"/>
              </a:rPr>
              <a:t>Ranked candidate venues</a:t>
            </a:r>
          </a:p>
          <a:p>
            <a:pPr algn="l"/>
            <a:r>
              <a:rPr sz="1100" i="1">
                <a:solidFill>
                  <a:srgbClr val="555555"/>
                </a:solidFill>
                <a:latin typeface="Calibri"/>
              </a:rPr>
              <a:t>Green pins denote candidate POIs retrieved inside the shared region and ranked by the fairness score.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68388" y="2130733"/>
            <a:ext cx="2338252" cy="315287"/>
          </a:xfrm>
          <a:prstGeom prst="line">
            <a:avLst/>
          </a:prstGeom>
          <a:ln w="19050">
            <a:solidFill>
              <a:srgbClr val="E15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607231" y="2020458"/>
            <a:ext cx="318407" cy="367588"/>
          </a:xfrm>
          <a:prstGeom prst="rect">
            <a:avLst/>
          </a:prstGeom>
          <a:noFill/>
          <a:ln w="25400">
            <a:solidFill>
              <a:srgbClr val="E15A1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3063240"/>
            <a:ext cx="457200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E15A1E"/>
                </a:solidFill>
                <a:latin typeface="Calibri"/>
              </a:rPr>
              <a:t>Participant B starting location</a:t>
            </a:r>
          </a:p>
          <a:p>
            <a:pPr algn="l"/>
            <a:r>
              <a:rPr sz="1100" i="1">
                <a:solidFill>
                  <a:srgbClr val="555555"/>
                </a:solidFill>
                <a:latin typeface="Calibri"/>
              </a:rPr>
              <a:t>Blue pin marks the second participant's geocoded starting point.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25638" y="2204252"/>
            <a:ext cx="1481002" cy="1293328"/>
          </a:xfrm>
          <a:prstGeom prst="line">
            <a:avLst/>
          </a:prstGeom>
          <a:ln w="19050">
            <a:solidFill>
              <a:srgbClr val="E15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500845" y="2829153"/>
            <a:ext cx="318407" cy="441106"/>
          </a:xfrm>
          <a:prstGeom prst="rect">
            <a:avLst/>
          </a:prstGeom>
          <a:noFill/>
          <a:ln w="25400">
            <a:solidFill>
              <a:srgbClr val="E15A1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4114800"/>
            <a:ext cx="457200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E15A1E"/>
                </a:solidFill>
                <a:latin typeface="Calibri"/>
              </a:rPr>
              <a:t>Geometric midpoint baseline</a:t>
            </a:r>
          </a:p>
          <a:p>
            <a:pPr algn="l"/>
            <a:r>
              <a:rPr sz="1100" i="1">
                <a:solidFill>
                  <a:srgbClr val="555555"/>
                </a:solidFill>
                <a:latin typeface="Calibri"/>
              </a:rPr>
              <a:t>Magenta pin shows the naive midpoint a non-fairness-aware tool would return, for contrast.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19252" y="3049706"/>
            <a:ext cx="3587388" cy="1499434"/>
          </a:xfrm>
          <a:prstGeom prst="line">
            <a:avLst/>
          </a:prstGeom>
          <a:ln w="19050">
            <a:solidFill>
              <a:srgbClr val="E15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82138" y="3564331"/>
            <a:ext cx="318407" cy="416600"/>
          </a:xfrm>
          <a:prstGeom prst="rect">
            <a:avLst/>
          </a:prstGeom>
          <a:noFill/>
          <a:ln w="25400">
            <a:solidFill>
              <a:srgbClr val="E15A1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5166360"/>
            <a:ext cx="457200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E15A1E"/>
                </a:solidFill>
                <a:latin typeface="Calibri"/>
              </a:rPr>
              <a:t>Participant A starting location</a:t>
            </a:r>
          </a:p>
          <a:p>
            <a:pPr algn="l"/>
            <a:r>
              <a:rPr sz="1100" i="1">
                <a:solidFill>
                  <a:srgbClr val="555555"/>
                </a:solidFill>
                <a:latin typeface="Calibri"/>
              </a:rPr>
              <a:t>Red pin marks the first participant's geocoded starting point.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00545" y="3772631"/>
            <a:ext cx="6306095" cy="1828069"/>
          </a:xfrm>
          <a:prstGeom prst="line">
            <a:avLst/>
          </a:prstGeom>
          <a:ln w="19050">
            <a:solidFill>
              <a:srgbClr val="E15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